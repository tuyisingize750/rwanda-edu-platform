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1"/>
  </p:notesMasterIdLst>
  <p:handoutMasterIdLst>
    <p:handoutMasterId r:id="rId12"/>
  </p:handoutMasterIdLst>
  <p:sldIdLst>
    <p:sldId id="322" r:id="rId5"/>
    <p:sldId id="318" r:id="rId6"/>
    <p:sldId id="316" r:id="rId7"/>
    <p:sldId id="315" r:id="rId8"/>
    <p:sldId id="313" r:id="rId9"/>
    <p:sldId id="31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5388" autoAdjust="0"/>
  </p:normalViewPr>
  <p:slideViewPr>
    <p:cSldViewPr snapToGrid="0">
      <p:cViewPr varScale="1">
        <p:scale>
          <a:sx n="82" d="100"/>
          <a:sy n="82" d="100"/>
        </p:scale>
        <p:origin x="845" y="77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6/16/2025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6/16/2025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52359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61947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85905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8194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91453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4313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55529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8927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04599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05784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736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29744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86904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07866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07532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27614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13697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8952387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6296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8722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3955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1332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2845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951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7" r:id="rId20"/>
    <p:sldLayoutId id="2147483768" r:id="rId21"/>
    <p:sldLayoutId id="2147483770" r:id="rId22"/>
    <p:sldLayoutId id="2147483772" r:id="rId23"/>
    <p:sldLayoutId id="2147483693" r:id="rId24"/>
    <p:sldLayoutId id="2147483692" r:id="rId25"/>
    <p:sldLayoutId id="2147483691" r:id="rId26"/>
    <p:sldLayoutId id="2147483689" r:id="rId27"/>
    <p:sldLayoutId id="2147483682" r:id="rId28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846" y="3225158"/>
            <a:ext cx="9776483" cy="1061092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chemeClr val="tx1"/>
                </a:solidFill>
              </a:rPr>
              <a:t>SMART AGRICULTURE ADVISOR SYSTEM (SAAS)</a:t>
            </a:r>
            <a:endParaRPr lang="en-GB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261257"/>
            <a:ext cx="9150675" cy="1427585"/>
          </a:xfrm>
        </p:spPr>
        <p:txBody>
          <a:bodyPr/>
          <a:lstStyle/>
          <a:p>
            <a:r>
              <a:rPr lang="en-US" b="1" u="sng" dirty="0" smtClean="0"/>
              <a:t>Introduction</a:t>
            </a:r>
            <a:endParaRPr lang="en-ZA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58268" y="1250307"/>
            <a:ext cx="10241104" cy="213670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GB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Agriculture is a key sector for food security and economic growth.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Farmers </a:t>
            </a:r>
            <a:r>
              <a:rPr lang="en-GB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face challenges in decision-making due to unpredictable weather, pests, and limited access to expert advice.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Technology </a:t>
            </a:r>
            <a:r>
              <a:rPr lang="en-GB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can help farmers make better decisions and improve productivity.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 txBox="1">
            <a:spLocks/>
          </p:cNvSpPr>
          <p:nvPr/>
        </p:nvSpPr>
        <p:spPr>
          <a:xfrm>
            <a:off x="1002282" y="3806895"/>
            <a:ext cx="10493032" cy="2136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B0F0"/>
            </a:solidFill>
            <a:prstDash val="solid"/>
          </a:ln>
        </p:spPr>
        <p:txBody>
          <a:bodyPr vert="horz" lIns="0" tIns="0" rIns="0" bIns="0" rtlCol="0" anchor="t">
            <a:normAutofit/>
          </a:bodyPr>
          <a:lstStyle>
            <a:lvl1pPr marL="2286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i="1" dirty="0" err="1">
                <a:latin typeface="Bookman Old Style" panose="02050604050505020204" pitchFamily="18" charset="0"/>
              </a:rPr>
              <a:t>Ubuhinzi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ni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ingenzi</a:t>
            </a:r>
            <a:r>
              <a:rPr lang="en-GB" i="1" dirty="0">
                <a:latin typeface="Bookman Old Style" panose="02050604050505020204" pitchFamily="18" charset="0"/>
              </a:rPr>
              <a:t> mu </a:t>
            </a:r>
            <a:r>
              <a:rPr lang="en-GB" i="1" dirty="0" err="1">
                <a:latin typeface="Bookman Old Style" panose="02050604050505020204" pitchFamily="18" charset="0"/>
              </a:rPr>
              <a:t>gutanga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ibiribwa</a:t>
            </a:r>
            <a:r>
              <a:rPr lang="en-GB" i="1" dirty="0">
                <a:latin typeface="Bookman Old Style" panose="02050604050505020204" pitchFamily="18" charset="0"/>
              </a:rPr>
              <a:t> no </a:t>
            </a:r>
            <a:r>
              <a:rPr lang="en-GB" i="1" dirty="0" err="1">
                <a:latin typeface="Bookman Old Style" panose="02050604050505020204" pitchFamily="18" charset="0"/>
              </a:rPr>
              <a:t>guteza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imbere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ubukungu</a:t>
            </a:r>
            <a:r>
              <a:rPr lang="en-GB" i="1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en-GB" i="1" dirty="0" err="1">
                <a:latin typeface="Bookman Old Style" panose="02050604050505020204" pitchFamily="18" charset="0"/>
              </a:rPr>
              <a:t>Abahinzi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bahura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n’ibibazo</a:t>
            </a:r>
            <a:r>
              <a:rPr lang="en-GB" i="1" dirty="0">
                <a:latin typeface="Bookman Old Style" panose="02050604050505020204" pitchFamily="18" charset="0"/>
              </a:rPr>
              <a:t> mu </a:t>
            </a:r>
            <a:r>
              <a:rPr lang="en-GB" i="1" dirty="0" err="1">
                <a:latin typeface="Bookman Old Style" panose="02050604050505020204" pitchFamily="18" charset="0"/>
              </a:rPr>
              <a:t>ifata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ry’imyanzuro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kubera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ibihe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 smtClean="0">
                <a:latin typeface="Bookman Old Style" panose="02050604050505020204" pitchFamily="18" charset="0"/>
              </a:rPr>
              <a:t>bibatunguye</a:t>
            </a:r>
            <a:r>
              <a:rPr lang="en-GB" i="1" dirty="0" smtClean="0">
                <a:latin typeface="Bookman Old Style" panose="02050604050505020204" pitchFamily="18" charset="0"/>
              </a:rPr>
              <a:t>, </a:t>
            </a:r>
            <a:r>
              <a:rPr lang="en-GB" i="1" dirty="0" err="1">
                <a:latin typeface="Bookman Old Style" panose="02050604050505020204" pitchFamily="18" charset="0"/>
              </a:rPr>
              <a:t>indwara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z’ibihingwa</a:t>
            </a:r>
            <a:r>
              <a:rPr lang="en-GB" i="1" dirty="0">
                <a:latin typeface="Bookman Old Style" panose="02050604050505020204" pitchFamily="18" charset="0"/>
              </a:rPr>
              <a:t>, </a:t>
            </a:r>
            <a:r>
              <a:rPr lang="en-GB" i="1" dirty="0" err="1">
                <a:latin typeface="Bookman Old Style" panose="02050604050505020204" pitchFamily="18" charset="0"/>
              </a:rPr>
              <a:t>n’ibura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ry’inama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z’abahanga</a:t>
            </a:r>
            <a:r>
              <a:rPr lang="en-GB" i="1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en-GB" i="1" dirty="0" err="1">
                <a:latin typeface="Bookman Old Style" panose="02050604050505020204" pitchFamily="18" charset="0"/>
              </a:rPr>
              <a:t>Ikoranabuhanga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rirashobora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gufasha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abahinzi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gufata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imyanzuro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myiza</a:t>
            </a:r>
            <a:r>
              <a:rPr lang="en-GB" i="1" dirty="0">
                <a:latin typeface="Bookman Old Style" panose="02050604050505020204" pitchFamily="18" charset="0"/>
              </a:rPr>
              <a:t> no </a:t>
            </a:r>
            <a:r>
              <a:rPr lang="en-GB" i="1" dirty="0" err="1">
                <a:latin typeface="Bookman Old Style" panose="02050604050505020204" pitchFamily="18" charset="0"/>
              </a:rPr>
              <a:t>kongera</a:t>
            </a:r>
            <a:r>
              <a:rPr lang="en-GB" i="1" dirty="0">
                <a:latin typeface="Bookman Old Style" panose="02050604050505020204" pitchFamily="18" charset="0"/>
              </a:rPr>
              <a:t> </a:t>
            </a:r>
            <a:r>
              <a:rPr lang="en-GB" i="1" dirty="0" err="1">
                <a:latin typeface="Bookman Old Style" panose="02050604050505020204" pitchFamily="18" charset="0"/>
              </a:rPr>
              <a:t>umusaruro</a:t>
            </a:r>
            <a:r>
              <a:rPr lang="en-GB" i="1" dirty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100" y="517296"/>
            <a:ext cx="9808773" cy="1427585"/>
          </a:xfrm>
        </p:spPr>
        <p:txBody>
          <a:bodyPr/>
          <a:lstStyle/>
          <a:p>
            <a:r>
              <a:rPr lang="en-US" b="1" u="sng" dirty="0">
                <a:solidFill>
                  <a:srgbClr val="002060"/>
                </a:solidFill>
                <a:latin typeface="Book Antiqua" panose="02040602050305030304" pitchFamily="18" charset="0"/>
              </a:rPr>
              <a:t>PROBLEM STATEMENT</a:t>
            </a:r>
            <a:endParaRPr lang="en-ZA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sz="quarter" idx="12"/>
          </p:nvPr>
        </p:nvSpPr>
        <p:spPr bwMode="auto">
          <a:xfrm>
            <a:off x="1308100" y="1263650"/>
            <a:ext cx="9872663" cy="411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F0F6FC"/>
                </a:solidFill>
                <a:effectLst/>
                <a:latin typeface="ui-monospace"/>
              </a:rPr>
              <a:t>Many farmers lack access to timely and reliable agricultural advice. - Traditional advisory services are often slow, expensive, or unavailable in rural areas. - This leads to lower crop yields, resource wastage, and reduced income.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 txBox="1">
            <a:spLocks/>
          </p:cNvSpPr>
          <p:nvPr/>
        </p:nvSpPr>
        <p:spPr>
          <a:xfrm>
            <a:off x="1381119" y="1658786"/>
            <a:ext cx="9808773" cy="1523637"/>
          </a:xfrm>
          <a:prstGeom prst="rect">
            <a:avLst/>
          </a:prstGeom>
          <a:effectLst/>
        </p:spPr>
        <p:txBody>
          <a:bodyPr vert="horz" lIns="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GB" sz="2400" dirty="0" smtClean="0">
                <a:solidFill>
                  <a:srgbClr val="002060"/>
                </a:solidFill>
                <a:latin typeface="Book Antiqua" panose="02040602050305030304" pitchFamily="18" charset="0"/>
              </a:rPr>
              <a:t>Many </a:t>
            </a:r>
            <a:r>
              <a:rPr lang="en-GB" sz="2400" dirty="0">
                <a:solidFill>
                  <a:srgbClr val="002060"/>
                </a:solidFill>
                <a:latin typeface="Book Antiqua" panose="02040602050305030304" pitchFamily="18" charset="0"/>
              </a:rPr>
              <a:t>farmers lack access to timely and reliable agricultural advice.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 smtClean="0">
                <a:solidFill>
                  <a:srgbClr val="002060"/>
                </a:solidFill>
                <a:latin typeface="Book Antiqua" panose="02040602050305030304" pitchFamily="18" charset="0"/>
              </a:rPr>
              <a:t>Traditional </a:t>
            </a:r>
            <a:r>
              <a:rPr lang="en-GB" sz="2400" dirty="0">
                <a:solidFill>
                  <a:srgbClr val="002060"/>
                </a:solidFill>
                <a:latin typeface="Book Antiqua" panose="02040602050305030304" pitchFamily="18" charset="0"/>
              </a:rPr>
              <a:t>advisory services are often slow, expensive, or unavailable in rural areas.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 smtClean="0">
                <a:solidFill>
                  <a:srgbClr val="002060"/>
                </a:solidFill>
                <a:latin typeface="Book Antiqua" panose="02040602050305030304" pitchFamily="18" charset="0"/>
              </a:rPr>
              <a:t>This </a:t>
            </a:r>
            <a:r>
              <a:rPr lang="en-GB" sz="2400" dirty="0">
                <a:solidFill>
                  <a:srgbClr val="002060"/>
                </a:solidFill>
                <a:latin typeface="Book Antiqua" panose="02040602050305030304" pitchFamily="18" charset="0"/>
              </a:rPr>
              <a:t>leads to lower crop yields, resource wastage, and reduced income.</a:t>
            </a:r>
            <a:endParaRPr lang="en-ZA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 txBox="1">
            <a:spLocks/>
          </p:cNvSpPr>
          <p:nvPr/>
        </p:nvSpPr>
        <p:spPr>
          <a:xfrm>
            <a:off x="1035237" y="3808623"/>
            <a:ext cx="10493032" cy="12392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B0F0"/>
            </a:solidFill>
            <a:prstDash val="solid"/>
          </a:ln>
        </p:spPr>
        <p:txBody>
          <a:bodyPr vert="horz" lIns="0" tIns="0" rIns="0" bIns="0" rtlCol="0" anchor="t">
            <a:normAutofit fontScale="92500" lnSpcReduction="10000"/>
          </a:bodyPr>
          <a:lstStyle>
            <a:lvl1pPr marL="2286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>
              <a:buFont typeface="+mj-lt"/>
              <a:buAutoNum type="romanLcPeriod"/>
            </a:pPr>
            <a:r>
              <a:rPr lang="en-GB" dirty="0" err="1"/>
              <a:t>Abahinzi</a:t>
            </a:r>
            <a:r>
              <a:rPr lang="en-GB" dirty="0"/>
              <a:t> </a:t>
            </a:r>
            <a:r>
              <a:rPr lang="en-GB" dirty="0" err="1"/>
              <a:t>benshi</a:t>
            </a:r>
            <a:r>
              <a:rPr lang="en-GB" dirty="0"/>
              <a:t> </a:t>
            </a:r>
            <a:r>
              <a:rPr lang="en-GB" dirty="0" err="1"/>
              <a:t>babura</a:t>
            </a:r>
            <a:r>
              <a:rPr lang="en-GB" dirty="0"/>
              <a:t> </a:t>
            </a:r>
            <a:r>
              <a:rPr lang="en-GB" dirty="0" err="1"/>
              <a:t>amakuru</a:t>
            </a:r>
            <a:r>
              <a:rPr lang="en-GB" dirty="0"/>
              <a:t> </a:t>
            </a:r>
            <a:r>
              <a:rPr lang="en-GB" dirty="0" err="1"/>
              <a:t>yihuse</a:t>
            </a:r>
            <a:r>
              <a:rPr lang="en-GB" dirty="0"/>
              <a:t> </a:t>
            </a:r>
            <a:r>
              <a:rPr lang="en-GB" dirty="0" err="1"/>
              <a:t>kandi</a:t>
            </a:r>
            <a:r>
              <a:rPr lang="en-GB" dirty="0"/>
              <a:t> </a:t>
            </a:r>
            <a:r>
              <a:rPr lang="en-GB" dirty="0" err="1"/>
              <a:t>yizewe</a:t>
            </a:r>
            <a:r>
              <a:rPr lang="en-GB" dirty="0"/>
              <a:t> </a:t>
            </a:r>
            <a:r>
              <a:rPr lang="en-GB" dirty="0" err="1"/>
              <a:t>ajyanye</a:t>
            </a:r>
            <a:r>
              <a:rPr lang="en-GB" dirty="0"/>
              <a:t> </a:t>
            </a:r>
            <a:r>
              <a:rPr lang="en-GB" dirty="0" err="1"/>
              <a:t>n’ubuhinzi</a:t>
            </a:r>
            <a:r>
              <a:rPr lang="en-GB" dirty="0"/>
              <a:t>.</a:t>
            </a:r>
          </a:p>
          <a:p>
            <a:pPr marL="514350" indent="-514350" algn="just">
              <a:buFont typeface="+mj-lt"/>
              <a:buAutoNum type="romanLcPeriod"/>
            </a:pPr>
            <a:r>
              <a:rPr lang="en-GB" dirty="0" err="1"/>
              <a:t>Serivisi</a:t>
            </a:r>
            <a:r>
              <a:rPr lang="en-GB" dirty="0"/>
              <a:t> </a:t>
            </a:r>
            <a:r>
              <a:rPr lang="en-GB" dirty="0" err="1"/>
              <a:t>zisanzwe</a:t>
            </a:r>
            <a:r>
              <a:rPr lang="en-GB" dirty="0"/>
              <a:t> </a:t>
            </a:r>
            <a:r>
              <a:rPr lang="en-GB" dirty="0" err="1"/>
              <a:t>zitanga</a:t>
            </a:r>
            <a:r>
              <a:rPr lang="en-GB" dirty="0"/>
              <a:t> </a:t>
            </a:r>
            <a:r>
              <a:rPr lang="en-GB" dirty="0" err="1"/>
              <a:t>inama</a:t>
            </a:r>
            <a:r>
              <a:rPr lang="en-GB" dirty="0"/>
              <a:t> </a:t>
            </a:r>
            <a:r>
              <a:rPr lang="en-GB" dirty="0" err="1"/>
              <a:t>z’ubuhinzi</a:t>
            </a:r>
            <a:r>
              <a:rPr lang="en-GB" dirty="0"/>
              <a:t> </a:t>
            </a:r>
            <a:r>
              <a:rPr lang="en-GB" dirty="0" err="1"/>
              <a:t>ziba</a:t>
            </a:r>
            <a:r>
              <a:rPr lang="en-GB" dirty="0"/>
              <a:t> </a:t>
            </a:r>
            <a:r>
              <a:rPr lang="en-GB" dirty="0" err="1"/>
              <a:t>zitinda</a:t>
            </a:r>
            <a:r>
              <a:rPr lang="en-GB" dirty="0"/>
              <a:t>, </a:t>
            </a:r>
            <a:r>
              <a:rPr lang="en-GB" dirty="0" err="1"/>
              <a:t>zihenze</a:t>
            </a:r>
            <a:r>
              <a:rPr lang="en-GB" dirty="0"/>
              <a:t> </a:t>
            </a:r>
            <a:r>
              <a:rPr lang="en-GB" dirty="0" err="1"/>
              <a:t>cyangwa</a:t>
            </a:r>
            <a:r>
              <a:rPr lang="en-GB" dirty="0"/>
              <a:t> </a:t>
            </a:r>
            <a:r>
              <a:rPr lang="en-GB" dirty="0" err="1"/>
              <a:t>zitaragera</a:t>
            </a:r>
            <a:r>
              <a:rPr lang="en-GB" dirty="0"/>
              <a:t> mu bice </a:t>
            </a:r>
            <a:r>
              <a:rPr lang="en-GB" dirty="0" err="1"/>
              <a:t>by’icyaro</a:t>
            </a:r>
            <a:r>
              <a:rPr lang="en-GB" dirty="0"/>
              <a:t>.</a:t>
            </a:r>
          </a:p>
          <a:p>
            <a:pPr marL="514350" indent="-514350" algn="just">
              <a:buFont typeface="+mj-lt"/>
              <a:buAutoNum type="romanLcPeriod"/>
            </a:pPr>
            <a:r>
              <a:rPr lang="en-GB" dirty="0" err="1"/>
              <a:t>Ibi</a:t>
            </a:r>
            <a:r>
              <a:rPr lang="en-GB" dirty="0"/>
              <a:t> </a:t>
            </a:r>
            <a:r>
              <a:rPr lang="en-GB" dirty="0" err="1"/>
              <a:t>bituma</a:t>
            </a:r>
            <a:r>
              <a:rPr lang="en-GB" dirty="0"/>
              <a:t> </a:t>
            </a:r>
            <a:r>
              <a:rPr lang="en-GB" dirty="0" err="1"/>
              <a:t>umusaruro</a:t>
            </a:r>
            <a:r>
              <a:rPr lang="en-GB" dirty="0"/>
              <a:t> </a:t>
            </a:r>
            <a:r>
              <a:rPr lang="en-GB" dirty="0" err="1"/>
              <a:t>uba</a:t>
            </a:r>
            <a:r>
              <a:rPr lang="en-GB" dirty="0"/>
              <a:t> </a:t>
            </a:r>
            <a:r>
              <a:rPr lang="en-GB" dirty="0" err="1"/>
              <a:t>muke</a:t>
            </a:r>
            <a:r>
              <a:rPr lang="en-GB" dirty="0"/>
              <a:t>, </a:t>
            </a:r>
            <a:r>
              <a:rPr lang="en-GB" dirty="0" err="1"/>
              <a:t>imikoreshereze</a:t>
            </a:r>
            <a:r>
              <a:rPr lang="en-GB" dirty="0"/>
              <a:t> </a:t>
            </a:r>
            <a:r>
              <a:rPr lang="en-GB" dirty="0" err="1"/>
              <a:t>y’umutungo</a:t>
            </a:r>
            <a:r>
              <a:rPr lang="en-GB" dirty="0"/>
              <a:t> </a:t>
            </a:r>
            <a:r>
              <a:rPr lang="en-GB" dirty="0" err="1"/>
              <a:t>idakwiye</a:t>
            </a:r>
            <a:r>
              <a:rPr lang="en-GB" dirty="0"/>
              <a:t>, </a:t>
            </a:r>
            <a:r>
              <a:rPr lang="en-GB" dirty="0" err="1"/>
              <a:t>n’inyungu</a:t>
            </a:r>
            <a:r>
              <a:rPr lang="en-GB" dirty="0"/>
              <a:t> </a:t>
            </a:r>
            <a:r>
              <a:rPr lang="en-GB" dirty="0" err="1"/>
              <a:t>nke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i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410" y="111962"/>
            <a:ext cx="9808773" cy="1427585"/>
          </a:xfrm>
        </p:spPr>
        <p:txBody>
          <a:bodyPr/>
          <a:lstStyle/>
          <a:p>
            <a:r>
              <a:rPr lang="en-US" b="1" u="sng" dirty="0" smtClean="0"/>
              <a:t>Proposed solution</a:t>
            </a:r>
            <a:endParaRPr lang="en-ZA" b="1" u="sng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CE9E18-F4C2-3B3A-348B-BE5512664CA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75655" y="1357608"/>
            <a:ext cx="10241886" cy="1646850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Develop a Smart Agriculture Advisor System.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 Uses technology (AI, </a:t>
            </a:r>
            <a:r>
              <a:rPr lang="en-GB" sz="18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GB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data analysis) to provide real-time, personalized advice to farmers.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 Accessible via mobile devices or computers, supporting multiple languages.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 txBox="1">
            <a:spLocks/>
          </p:cNvSpPr>
          <p:nvPr/>
        </p:nvSpPr>
        <p:spPr>
          <a:xfrm>
            <a:off x="1002282" y="3629608"/>
            <a:ext cx="10493032" cy="23139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B0F0"/>
            </a:solidFill>
            <a:prstDash val="solid"/>
          </a:ln>
        </p:spPr>
        <p:txBody>
          <a:bodyPr vert="horz" lIns="0" tIns="0" rIns="0" bIns="0" rtlCol="0" anchor="t">
            <a:normAutofit lnSpcReduction="10000"/>
          </a:bodyPr>
          <a:lstStyle>
            <a:lvl1pPr marL="2286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GB" dirty="0" err="1" smtClean="0"/>
              <a:t>Guteza</a:t>
            </a:r>
            <a:r>
              <a:rPr lang="en-GB" dirty="0" smtClean="0"/>
              <a:t> </a:t>
            </a:r>
            <a:r>
              <a:rPr lang="en-GB" dirty="0" err="1"/>
              <a:t>imbere</a:t>
            </a:r>
            <a:r>
              <a:rPr lang="en-GB" dirty="0"/>
              <a:t> “Smart Agriculture Advisor System”.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GB" dirty="0" err="1"/>
              <a:t>Gukoresha</a:t>
            </a:r>
            <a:r>
              <a:rPr lang="en-GB" dirty="0"/>
              <a:t> </a:t>
            </a:r>
            <a:r>
              <a:rPr lang="en-GB" dirty="0" err="1"/>
              <a:t>ikoranabuhanga</a:t>
            </a:r>
            <a:r>
              <a:rPr lang="en-GB" dirty="0"/>
              <a:t> (AI, </a:t>
            </a:r>
            <a:r>
              <a:rPr lang="en-GB" dirty="0" smtClean="0"/>
              <a:t> </a:t>
            </a:r>
            <a:r>
              <a:rPr lang="en-GB" dirty="0" err="1"/>
              <a:t>isesengura</a:t>
            </a:r>
            <a:r>
              <a:rPr lang="en-GB" dirty="0"/>
              <a:t> </a:t>
            </a:r>
            <a:r>
              <a:rPr lang="en-GB" dirty="0" err="1"/>
              <a:t>ry’amakuru</a:t>
            </a:r>
            <a:r>
              <a:rPr lang="en-GB" dirty="0"/>
              <a:t>) mu </a:t>
            </a:r>
            <a:r>
              <a:rPr lang="en-GB" dirty="0" err="1"/>
              <a:t>gutanga</a:t>
            </a:r>
            <a:r>
              <a:rPr lang="en-GB" dirty="0"/>
              <a:t> </a:t>
            </a:r>
            <a:r>
              <a:rPr lang="en-GB" dirty="0" err="1"/>
              <a:t>inama</a:t>
            </a:r>
            <a:r>
              <a:rPr lang="en-GB" dirty="0"/>
              <a:t> </a:t>
            </a:r>
            <a:r>
              <a:rPr lang="en-GB" dirty="0" err="1"/>
              <a:t>zihuse</a:t>
            </a:r>
            <a:r>
              <a:rPr lang="en-GB" dirty="0"/>
              <a:t> </a:t>
            </a:r>
            <a:r>
              <a:rPr lang="en-GB" dirty="0" err="1"/>
              <a:t>kandi</a:t>
            </a:r>
            <a:r>
              <a:rPr lang="en-GB" dirty="0"/>
              <a:t> </a:t>
            </a:r>
            <a:r>
              <a:rPr lang="en-GB" dirty="0" err="1" smtClean="0"/>
              <a:t>zikwiriye</a:t>
            </a:r>
            <a:endParaRPr lang="en-GB" dirty="0" smtClean="0"/>
          </a:p>
          <a:p>
            <a:pPr marL="0" indent="0" algn="just">
              <a:buNone/>
            </a:pPr>
            <a:r>
              <a:rPr lang="en-GB" dirty="0"/>
              <a:t> </a:t>
            </a:r>
            <a:r>
              <a:rPr lang="en-GB" dirty="0" smtClean="0"/>
              <a:t>            </a:t>
            </a:r>
            <a:r>
              <a:rPr lang="en-GB" dirty="0" err="1"/>
              <a:t>buri</a:t>
            </a:r>
            <a:r>
              <a:rPr lang="en-GB" dirty="0"/>
              <a:t> </a:t>
            </a:r>
            <a:r>
              <a:rPr lang="en-GB" dirty="0" err="1"/>
              <a:t>muhinzi</a:t>
            </a:r>
            <a:r>
              <a:rPr lang="en-GB" dirty="0"/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GB" dirty="0" err="1"/>
              <a:t>Serivisi</a:t>
            </a:r>
            <a:r>
              <a:rPr lang="en-GB" dirty="0"/>
              <a:t> </a:t>
            </a:r>
            <a:r>
              <a:rPr lang="en-GB" dirty="0" err="1"/>
              <a:t>iboneka</a:t>
            </a:r>
            <a:r>
              <a:rPr lang="en-GB" dirty="0"/>
              <a:t> </a:t>
            </a:r>
            <a:r>
              <a:rPr lang="en-GB" dirty="0" err="1"/>
              <a:t>kuri</a:t>
            </a:r>
            <a:r>
              <a:rPr lang="en-GB" dirty="0"/>
              <a:t> </a:t>
            </a:r>
            <a:r>
              <a:rPr lang="en-GB" dirty="0" err="1"/>
              <a:t>telefoni</a:t>
            </a:r>
            <a:r>
              <a:rPr lang="en-GB" dirty="0"/>
              <a:t> </a:t>
            </a:r>
            <a:r>
              <a:rPr lang="en-GB" dirty="0" err="1"/>
              <a:t>cyangwa</a:t>
            </a:r>
            <a:r>
              <a:rPr lang="en-GB" dirty="0"/>
              <a:t> </a:t>
            </a:r>
            <a:r>
              <a:rPr lang="en-GB" dirty="0" err="1"/>
              <a:t>mudasobwa</a:t>
            </a:r>
            <a:r>
              <a:rPr lang="en-GB" dirty="0"/>
              <a:t>, </a:t>
            </a:r>
            <a:r>
              <a:rPr lang="en-GB" dirty="0" err="1"/>
              <a:t>inafite</a:t>
            </a:r>
            <a:r>
              <a:rPr lang="en-GB" dirty="0"/>
              <a:t> </a:t>
            </a:r>
            <a:r>
              <a:rPr lang="en-GB" dirty="0" err="1"/>
              <a:t>indimi</a:t>
            </a:r>
            <a:r>
              <a:rPr lang="en-GB" dirty="0"/>
              <a:t> </a:t>
            </a:r>
            <a:r>
              <a:rPr lang="en-GB" dirty="0" err="1"/>
              <a:t>nyinshi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endParaRPr lang="en-GB" i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01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5AA6ED-97F0-825D-71BB-D4D461E78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Objectives </a:t>
            </a:r>
            <a:r>
              <a:rPr lang="en-US" b="1" u="sng" dirty="0" smtClean="0"/>
              <a:t>of the study</a:t>
            </a:r>
            <a:endParaRPr lang="en-ZA" b="1" u="sng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59FD0C-3CC0-6307-C5F3-CCBE0B14A1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94027" y="1721500"/>
            <a:ext cx="10558345" cy="1964092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Provide </a:t>
            </a:r>
            <a:r>
              <a:rPr lang="en-GB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accurate and timely agricultural recommendations.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Help </a:t>
            </a:r>
            <a:r>
              <a:rPr lang="en-GB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farmers optimize crop yields and resource usage.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Reduce </a:t>
            </a:r>
            <a:r>
              <a:rPr lang="en-GB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dependency on manual advisory services.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Promote </a:t>
            </a:r>
            <a:r>
              <a:rPr lang="en-GB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sustainable and profitable farming practices.</a:t>
            </a:r>
            <a:endParaRPr lang="en-GB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592F51-55CE-19DC-B632-AD19560BA9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 txBox="1">
            <a:spLocks/>
          </p:cNvSpPr>
          <p:nvPr/>
        </p:nvSpPr>
        <p:spPr>
          <a:xfrm>
            <a:off x="1002282" y="3806895"/>
            <a:ext cx="10493032" cy="2136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B0F0"/>
            </a:solidFill>
            <a:prstDash val="solid"/>
          </a:ln>
        </p:spPr>
        <p:txBody>
          <a:bodyPr vert="horz" lIns="0" tIns="0" rIns="0" bIns="0" rtlCol="0" anchor="t">
            <a:normAutofit/>
          </a:bodyPr>
          <a:lstStyle>
            <a:lvl1pPr marL="2286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5000"/>
              <a:buFont typeface="Arial" panose="020B0604020202020204" pitchFamily="34" charset="0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Gutanga</a:t>
            </a:r>
            <a:r>
              <a:rPr lang="en-GB" dirty="0"/>
              <a:t> </a:t>
            </a:r>
            <a:r>
              <a:rPr lang="en-GB" dirty="0" err="1"/>
              <a:t>inama</a:t>
            </a:r>
            <a:r>
              <a:rPr lang="en-GB" dirty="0"/>
              <a:t> </a:t>
            </a:r>
            <a:r>
              <a:rPr lang="en-GB" dirty="0" err="1"/>
              <a:t>zizewe</a:t>
            </a:r>
            <a:r>
              <a:rPr lang="en-GB" dirty="0"/>
              <a:t> </a:t>
            </a:r>
            <a:r>
              <a:rPr lang="en-GB" dirty="0" err="1"/>
              <a:t>kandi</a:t>
            </a:r>
            <a:r>
              <a:rPr lang="en-GB" dirty="0"/>
              <a:t> </a:t>
            </a:r>
            <a:r>
              <a:rPr lang="en-GB" dirty="0" err="1"/>
              <a:t>zihuse</a:t>
            </a:r>
            <a:r>
              <a:rPr lang="en-GB" dirty="0"/>
              <a:t> mu </a:t>
            </a:r>
            <a:r>
              <a:rPr lang="en-GB" dirty="0" err="1"/>
              <a:t>buhinzi</a:t>
            </a:r>
            <a:r>
              <a:rPr lang="en-GB" dirty="0"/>
              <a:t>.</a:t>
            </a:r>
          </a:p>
          <a:p>
            <a:r>
              <a:rPr lang="en-GB" dirty="0" err="1"/>
              <a:t>Gufasha</a:t>
            </a:r>
            <a:r>
              <a:rPr lang="en-GB" dirty="0"/>
              <a:t> </a:t>
            </a:r>
            <a:r>
              <a:rPr lang="en-GB" dirty="0" err="1"/>
              <a:t>abahinzi</a:t>
            </a:r>
            <a:r>
              <a:rPr lang="en-GB" dirty="0"/>
              <a:t> </a:t>
            </a:r>
            <a:r>
              <a:rPr lang="en-GB" dirty="0" err="1"/>
              <a:t>kongera</a:t>
            </a:r>
            <a:r>
              <a:rPr lang="en-GB" dirty="0"/>
              <a:t> </a:t>
            </a:r>
            <a:r>
              <a:rPr lang="en-GB" dirty="0" err="1"/>
              <a:t>umusaruro</a:t>
            </a:r>
            <a:r>
              <a:rPr lang="en-GB" dirty="0"/>
              <a:t> no </a:t>
            </a:r>
            <a:r>
              <a:rPr lang="en-GB" dirty="0" err="1"/>
              <a:t>gukoresha</a:t>
            </a:r>
            <a:r>
              <a:rPr lang="en-GB" dirty="0"/>
              <a:t> </a:t>
            </a:r>
            <a:r>
              <a:rPr lang="en-GB" dirty="0" err="1"/>
              <a:t>neza</a:t>
            </a:r>
            <a:r>
              <a:rPr lang="en-GB" dirty="0"/>
              <a:t> </a:t>
            </a:r>
            <a:r>
              <a:rPr lang="en-GB" dirty="0" err="1"/>
              <a:t>umutungo</a:t>
            </a:r>
            <a:r>
              <a:rPr lang="en-GB" dirty="0"/>
              <a:t>.</a:t>
            </a:r>
          </a:p>
          <a:p>
            <a:r>
              <a:rPr lang="en-GB" dirty="0" err="1"/>
              <a:t>Kugabanya</a:t>
            </a:r>
            <a:r>
              <a:rPr lang="en-GB" dirty="0"/>
              <a:t> </a:t>
            </a:r>
            <a:r>
              <a:rPr lang="en-GB" dirty="0" err="1"/>
              <a:t>gukenera</a:t>
            </a:r>
            <a:r>
              <a:rPr lang="en-GB" dirty="0"/>
              <a:t> </a:t>
            </a:r>
            <a:r>
              <a:rPr lang="en-GB" dirty="0" err="1"/>
              <a:t>serivisi</a:t>
            </a:r>
            <a:r>
              <a:rPr lang="en-GB" dirty="0"/>
              <a:t> </a:t>
            </a:r>
            <a:r>
              <a:rPr lang="en-GB" dirty="0" err="1"/>
              <a:t>z’abantu</a:t>
            </a:r>
            <a:r>
              <a:rPr lang="en-GB" dirty="0"/>
              <a:t> mu </a:t>
            </a:r>
            <a:r>
              <a:rPr lang="en-GB" dirty="0" err="1"/>
              <a:t>gutanga</a:t>
            </a:r>
            <a:r>
              <a:rPr lang="en-GB" dirty="0"/>
              <a:t> </a:t>
            </a:r>
            <a:r>
              <a:rPr lang="en-GB" dirty="0" err="1"/>
              <a:t>inama</a:t>
            </a:r>
            <a:r>
              <a:rPr lang="en-GB" dirty="0"/>
              <a:t>.</a:t>
            </a:r>
          </a:p>
          <a:p>
            <a:r>
              <a:rPr lang="en-GB" dirty="0" err="1"/>
              <a:t>Gushyigikira</a:t>
            </a:r>
            <a:r>
              <a:rPr lang="en-GB" dirty="0"/>
              <a:t> </a:t>
            </a:r>
            <a:r>
              <a:rPr lang="en-GB" dirty="0" err="1"/>
              <a:t>ubuhinzi</a:t>
            </a:r>
            <a:r>
              <a:rPr lang="en-GB" dirty="0"/>
              <a:t> </a:t>
            </a:r>
            <a:r>
              <a:rPr lang="en-GB" dirty="0" err="1"/>
              <a:t>burambye</a:t>
            </a:r>
            <a:r>
              <a:rPr lang="en-GB" dirty="0"/>
              <a:t> </a:t>
            </a:r>
            <a:r>
              <a:rPr lang="en-GB" dirty="0" err="1"/>
              <a:t>kandi</a:t>
            </a:r>
            <a:r>
              <a:rPr lang="en-GB" dirty="0"/>
              <a:t> </a:t>
            </a:r>
            <a:r>
              <a:rPr lang="en-GB" dirty="0" err="1"/>
              <a:t>butanga</a:t>
            </a:r>
            <a:r>
              <a:rPr lang="en-GB" dirty="0"/>
              <a:t> </a:t>
            </a:r>
            <a:r>
              <a:rPr lang="en-GB" dirty="0" err="1"/>
              <a:t>inyungu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4546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182" y="2220685"/>
            <a:ext cx="6529431" cy="81171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A750-Sans-Medium" panose="00000500000000000000" pitchFamily="2" charset="0"/>
              </a:rPr>
              <a:t>Thank you !</a:t>
            </a:r>
            <a:endParaRPr lang="en-US" dirty="0">
              <a:solidFill>
                <a:schemeClr val="tx1"/>
              </a:solidFill>
              <a:latin typeface="A750-Sans-Medium" panose="00000500000000000000" pitchFamily="2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1091681" y="3825551"/>
            <a:ext cx="10412963" cy="2323323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schemeClr val="bg1"/>
                </a:solidFill>
                <a:latin typeface="Adam's Apple 3" pitchFamily="2" charset="0"/>
                <a:ea typeface="Adobe Gothic Std B" panose="020B0800000000000000" pitchFamily="34" charset="-128"/>
              </a:rPr>
              <a:t>We’ll proceed with system design and implementation</a:t>
            </a:r>
            <a:endParaRPr lang="en-GB" sz="3600" dirty="0">
              <a:solidFill>
                <a:schemeClr val="bg1"/>
              </a:solidFill>
              <a:latin typeface="Adam's Apple 3" pitchFamily="2" charset="0"/>
              <a:ea typeface="Adobe Gothic Std B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DD27D0-5B6E-4A0E-95B2-BB37F9D88615}">
  <ds:schemaRefs>
    <ds:schemaRef ds:uri="http://purl.org/dc/elements/1.1/"/>
    <ds:schemaRef ds:uri="http://purl.org/dc/dcmitype/"/>
    <ds:schemaRef ds:uri="http://schemas.microsoft.com/office/2006/metadata/properties"/>
    <ds:schemaRef ds:uri="16c05727-aa75-4e4a-9b5f-8a80a1165891"/>
    <ds:schemaRef ds:uri="http://schemas.microsoft.com/office/2006/documentManagement/types"/>
    <ds:schemaRef ds:uri="71af3243-3dd4-4a8d-8c0d-dd76da1f02a5"/>
    <ds:schemaRef ds:uri="http://schemas.openxmlformats.org/package/2006/metadata/core-properties"/>
    <ds:schemaRef ds:uri="http://schemas.microsoft.com/sharepoint/v3"/>
    <ds:schemaRef ds:uri="http://purl.org/dc/terms/"/>
    <ds:schemaRef ds:uri="http://schemas.microsoft.com/office/infopath/2007/PartnerControls"/>
    <ds:schemaRef ds:uri="230e9df3-be65-4c73-a93b-d1236ebd677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98CD342-50C4-441F-B4A3-7D5ADB0571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AE0208-DBD5-43E1-AC6B-D2AD9623F0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370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Adobe Gothic Std B</vt:lpstr>
      <vt:lpstr>Microsoft YaHei UI</vt:lpstr>
      <vt:lpstr>A750-Sans-Medium</vt:lpstr>
      <vt:lpstr>Adam's Apple 3</vt:lpstr>
      <vt:lpstr>Arial</vt:lpstr>
      <vt:lpstr>Book Antiqua</vt:lpstr>
      <vt:lpstr>Bookman Old Style</vt:lpstr>
      <vt:lpstr>Calibri</vt:lpstr>
      <vt:lpstr>Garamond</vt:lpstr>
      <vt:lpstr>ui-monospace</vt:lpstr>
      <vt:lpstr>Wingdings</vt:lpstr>
      <vt:lpstr>Organic</vt:lpstr>
      <vt:lpstr>SMART AGRICULTURE ADVISOR SYSTEM (SAAS)</vt:lpstr>
      <vt:lpstr>Introduction</vt:lpstr>
      <vt:lpstr>PROBLEM STATEMENT</vt:lpstr>
      <vt:lpstr>Proposed solution</vt:lpstr>
      <vt:lpstr>Objectives of the study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LEONARD</dc:creator>
  <cp:lastModifiedBy>PC</cp:lastModifiedBy>
  <cp:revision>13</cp:revision>
  <dcterms:created xsi:type="dcterms:W3CDTF">2024-01-11T18:09:01Z</dcterms:created>
  <dcterms:modified xsi:type="dcterms:W3CDTF">2025-06-16T20:08:02Z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